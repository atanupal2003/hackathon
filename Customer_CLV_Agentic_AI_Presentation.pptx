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B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0069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84080" y="146304"/>
            <a:ext cx="2404872" cy="1005840"/>
          </a:xfrm>
          <a:prstGeom prst="rect">
            <a:avLst/>
          </a:prstGeom>
          <a:solidFill>
            <a:srgbClr val="672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5156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Customer Lifetime Value (CLV)</a:t>
            </a:r>
          </a:p>
          <a:p>
            <a:pPr>
              <a:defRPr sz="3000" b="1">
                <a:solidFill>
                  <a:srgbClr val="78E2DE"/>
                </a:solidFill>
                <a:latin typeface="Aptos Display"/>
              </a:defRPr>
            </a:pPr>
            <a:r>
              <a:t>Agentic AI — Modular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15468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  <a:latin typeface="Aptos"/>
              </a:defRPr>
            </a:pPr>
            <a:r>
              <a:t>Predict customer value • Identify churn risk • Recommend retention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0060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7E5F5"/>
                </a:solidFill>
                <a:latin typeface="Aptos"/>
              </a:defRPr>
            </a:pPr>
            <a:r>
              <a:t>Python | Streamlit | FastAPI | scikit-learn | ChromaDB | Optional OpenAI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9CFE8"/>
                </a:solidFill>
                <a:latin typeface="Aptos"/>
              </a:defRPr>
            </a:pPr>
            <a:r>
              <a:t>Modular architecture • Persona-based access • No MCP • No LangChain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82B69"/>
                </a:solidFill>
                <a:latin typeface="Aptos Display"/>
              </a:defRPr>
            </a:pPr>
            <a:r>
              <a:t>Business Context &amp;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A7A"/>
                </a:solidFill>
                <a:latin typeface="Aptos"/>
              </a:defRPr>
            </a:pPr>
            <a:r>
              <a:t>Move from reactive customer campaigns to value-led, evidence-based retention.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1097280" cy="54864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3520440" cy="182880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00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664207"/>
            <a:ext cx="3191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69BE"/>
                </a:solidFill>
                <a:latin typeface="Aptos Display"/>
              </a:defRPr>
            </a:pPr>
            <a:r>
              <a:t>Current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057400"/>
            <a:ext cx="31912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E2B3D"/>
                </a:solidFill>
                <a:latin typeface="Aptos"/>
              </a:defRPr>
            </a:pPr>
            <a:r>
              <a:t>• Customer value is difficult to estimate</a:t>
            </a:r>
          </a:p>
          <a:p>
            <a:pPr>
              <a:spcAft>
                <a:spcPts val="300"/>
              </a:spcAft>
              <a:defRPr sz="1300">
                <a:solidFill>
                  <a:srgbClr val="1E2B3D"/>
                </a:solidFill>
                <a:latin typeface="Aptos"/>
              </a:defRPr>
            </a:pPr>
            <a:r>
              <a:t>• Churn signals are spread across datasets</a:t>
            </a:r>
          </a:p>
          <a:p>
            <a:pPr>
              <a:spcAft>
                <a:spcPts val="300"/>
              </a:spcAft>
              <a:defRPr sz="1300">
                <a:solidFill>
                  <a:srgbClr val="1E2B3D"/>
                </a:solidFill>
                <a:latin typeface="Aptos"/>
              </a:defRPr>
            </a:pPr>
            <a:r>
              <a:t>• Campaigns can be broad and discount-heavy</a:t>
            </a:r>
          </a:p>
          <a:p>
            <a:pPr>
              <a:spcAft>
                <a:spcPts val="300"/>
              </a:spcAft>
              <a:defRPr sz="1300">
                <a:solidFill>
                  <a:srgbClr val="1E2B3D"/>
                </a:solidFill>
                <a:latin typeface="Aptos"/>
              </a:defRPr>
            </a:pPr>
            <a:r>
              <a:t>• Impact is not consistently measured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520440" cy="182880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00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664207"/>
            <a:ext cx="3191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8C8C"/>
                </a:solidFill>
                <a:latin typeface="Aptos Display"/>
              </a:defRPr>
            </a:pPr>
            <a:r>
              <a:t>Business opportunity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057400"/>
            <a:ext cx="31912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E2B3D"/>
                </a:solidFill>
                <a:latin typeface="Aptos"/>
              </a:defRPr>
            </a:pPr>
            <a:r>
              <a:t>• Estimate future 12-month CLV</a:t>
            </a:r>
          </a:p>
          <a:p>
            <a:pPr>
              <a:spcAft>
                <a:spcPts val="300"/>
              </a:spcAft>
              <a:defRPr sz="1300">
                <a:solidFill>
                  <a:srgbClr val="1E2B3D"/>
                </a:solidFill>
                <a:latin typeface="Aptos"/>
              </a:defRPr>
            </a:pPr>
            <a:r>
              <a:t>• Prioritize customers by churn risk</a:t>
            </a:r>
          </a:p>
          <a:p>
            <a:pPr>
              <a:spcAft>
                <a:spcPts val="300"/>
              </a:spcAft>
              <a:defRPr sz="1300">
                <a:solidFill>
                  <a:srgbClr val="1E2B3D"/>
                </a:solidFill>
                <a:latin typeface="Aptos"/>
              </a:defRPr>
            </a:pPr>
            <a:r>
              <a:t>• Match actions to customer context</a:t>
            </a:r>
          </a:p>
          <a:p>
            <a:pPr>
              <a:spcAft>
                <a:spcPts val="300"/>
              </a:spcAft>
              <a:defRPr sz="1300">
                <a:solidFill>
                  <a:srgbClr val="1E2B3D"/>
                </a:solidFill>
                <a:latin typeface="Aptos"/>
              </a:defRPr>
            </a:pPr>
            <a:r>
              <a:t>• Measure incremental margin and retention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554480"/>
            <a:ext cx="3520440" cy="182880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67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664207"/>
            <a:ext cx="3191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672DA8"/>
                </a:solidFill>
                <a:latin typeface="Aptos Display"/>
              </a:defRPr>
            </a:pPr>
            <a:r>
              <a:t>Target outcomes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057400"/>
            <a:ext cx="319125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E2B3D"/>
                </a:solidFill>
                <a:latin typeface="Aptos"/>
              </a:defRPr>
            </a:pPr>
            <a:r>
              <a:t>• Better retention prioritization</a:t>
            </a:r>
          </a:p>
          <a:p>
            <a:pPr>
              <a:spcAft>
                <a:spcPts val="300"/>
              </a:spcAft>
              <a:defRPr sz="1300">
                <a:solidFill>
                  <a:srgbClr val="1E2B3D"/>
                </a:solidFill>
                <a:latin typeface="Aptos"/>
              </a:defRPr>
            </a:pPr>
            <a:r>
              <a:t>• More relevant customer engagement</a:t>
            </a:r>
          </a:p>
          <a:p>
            <a:pPr>
              <a:spcAft>
                <a:spcPts val="300"/>
              </a:spcAft>
              <a:defRPr sz="1300">
                <a:solidFill>
                  <a:srgbClr val="1E2B3D"/>
                </a:solidFill>
                <a:latin typeface="Aptos"/>
              </a:defRPr>
            </a:pPr>
            <a:r>
              <a:t>• Reduced unnecessary incentives</a:t>
            </a:r>
          </a:p>
          <a:p>
            <a:pPr>
              <a:spcAft>
                <a:spcPts val="300"/>
              </a:spcAft>
              <a:defRPr sz="1300">
                <a:solidFill>
                  <a:srgbClr val="1E2B3D"/>
                </a:solidFill>
                <a:latin typeface="Aptos"/>
              </a:defRPr>
            </a:pPr>
            <a:r>
              <a:t>• Transparent, auditable recommendations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8862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E2B3D"/>
                </a:solidFill>
                <a:latin typeface="Aptos"/>
              </a:defRPr>
            </a:pPr>
            <a:r>
              <a:t>Primary users: CRM Manager, Retention Analyst, Regional Marketing Manager, Auditor and Administrator.</a:t>
            </a:r>
          </a:p>
          <a:p>
            <a:pPr>
              <a:spcAft>
                <a:spcPts val="700"/>
              </a:spcAft>
              <a:defRPr sz="1600">
                <a:solidFill>
                  <a:srgbClr val="1E2B3D"/>
                </a:solidFill>
                <a:latin typeface="Aptos"/>
              </a:defRPr>
            </a:pPr>
            <a:r>
              <a:t>Decision support only: predictions are estimates; campaign execution remains subject to human approval.</a:t>
            </a:r>
          </a:p>
          <a:p>
            <a:pPr>
              <a:spcAft>
                <a:spcPts val="700"/>
              </a:spcAft>
              <a:defRPr sz="1600">
                <a:solidFill>
                  <a:srgbClr val="1E2B3D"/>
                </a:solidFill>
                <a:latin typeface="Aptos"/>
              </a:defRPr>
            </a:pPr>
            <a:r>
              <a:t>Prototype data is synthetic and must be replaced and validated before production.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A7A"/>
                </a:solidFill>
                <a:latin typeface="Aptos"/>
              </a:defRPr>
            </a:pPr>
            <a:r>
              <a:t>Customer Lifetime Value Agentic AI  |  Modular Python solution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82B69"/>
                </a:solidFill>
                <a:latin typeface="Aptos Display"/>
              </a:defRPr>
            </a:pPr>
            <a:r>
              <a:t>Solution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A7A"/>
                </a:solidFill>
                <a:latin typeface="Aptos"/>
              </a:defRPr>
            </a:pPr>
            <a:r>
              <a:t>A modular Python application with independently deployable UI, API and agent modules.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1097280" cy="54864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2651760" cy="201168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25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664207"/>
            <a:ext cx="23225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844A"/>
                </a:solidFill>
                <a:latin typeface="Aptos Display"/>
              </a:defRPr>
            </a:pPr>
            <a:r>
              <a:t>1. Streamlit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057400"/>
            <a:ext cx="232257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Persona-aware navigation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Executive KPIs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Customer explorer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CLV &amp; churn views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LLM usage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554480"/>
            <a:ext cx="2651760" cy="201168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00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2" y="1664207"/>
            <a:ext cx="23225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69BE"/>
                </a:solidFill>
                <a:latin typeface="Aptos Display"/>
              </a:defRPr>
            </a:pPr>
            <a:r>
              <a:t>2. FastAPI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057400"/>
            <a:ext cx="232257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REST endpoints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Authorization checks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Regional data scoping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Orchestrates agents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Audit and telemetry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2651760" cy="201168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67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1664207"/>
            <a:ext cx="232257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72DA8"/>
                </a:solidFill>
                <a:latin typeface="Aptos Display"/>
              </a:defRPr>
            </a:pPr>
            <a:r>
              <a:t>3. AI 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2057400"/>
            <a:ext cx="232257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CLV prediction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Churn risk scoring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Retention recommendations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Conversational assistant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554480"/>
            <a:ext cx="2514600" cy="201168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00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2" y="1664207"/>
            <a:ext cx="218541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8C8C"/>
                </a:solidFill>
                <a:latin typeface="Aptos Display"/>
              </a:defRPr>
            </a:pPr>
            <a:r>
              <a:t>4. Data &amp;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2057400"/>
            <a:ext cx="218541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Synthetic CSV data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scikit-learn models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ChromaDB playbooks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Optional OpenAI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SQLite telemetry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605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E2B3D"/>
                </a:solidFill>
                <a:latin typeface="Aptos"/>
              </a:defRPr>
            </a:pPr>
            <a:r>
              <a:t>REST communication between Streamlit and FastAPI over JSON.</a:t>
            </a:r>
          </a:p>
          <a:p>
            <a:pPr>
              <a:spcAft>
                <a:spcPts val="700"/>
              </a:spcAft>
              <a:defRPr sz="1600">
                <a:solidFill>
                  <a:srgbClr val="1E2B3D"/>
                </a:solidFill>
                <a:latin typeface="Aptos"/>
              </a:defRPr>
            </a:pPr>
            <a:r>
              <a:t>No MCP server and no LangChain dependency.</a:t>
            </a:r>
          </a:p>
          <a:p>
            <a:pPr>
              <a:spcAft>
                <a:spcPts val="700"/>
              </a:spcAft>
              <a:defRPr sz="1600">
                <a:solidFill>
                  <a:srgbClr val="1E2B3D"/>
                </a:solidFill>
                <a:latin typeface="Aptos"/>
              </a:defRPr>
            </a:pPr>
            <a:r>
              <a:t>Fallback retention guidance keeps core flows usable without an OpenAI API key.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A7A"/>
                </a:solidFill>
                <a:latin typeface="Aptos"/>
              </a:defRPr>
            </a:pPr>
            <a:r>
              <a:t>Customer Lifetime Value Agentic AI  |  Modular Python solution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82B69"/>
                </a:solidFill>
                <a:latin typeface="Aptos Display"/>
              </a:defRPr>
            </a:pPr>
            <a:r>
              <a:t>Modular Solution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A7A"/>
                </a:solidFill>
                <a:latin typeface="Aptos"/>
              </a:defRPr>
            </a:pPr>
            <a:r>
              <a:t>Logical layers, agent responsibilities, data stores and cross-cutting controls.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1097280" cy="54864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_wide_infographic_diagram_on_a_white_background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53312"/>
            <a:ext cx="11384280" cy="4892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A7A"/>
                </a:solidFill>
                <a:latin typeface="Aptos"/>
              </a:defRPr>
            </a:pPr>
            <a:r>
              <a:t>Customer Lifetime Value Agentic AI  |  Modular Python solution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82B69"/>
                </a:solidFill>
                <a:latin typeface="Aptos Display"/>
              </a:defRPr>
            </a:pPr>
            <a:r>
              <a:t>Data &amp; Machine Learning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A7A"/>
                </a:solidFill>
                <a:latin typeface="Aptos"/>
              </a:defRPr>
            </a:pPr>
            <a:r>
              <a:t>Synthetic data supports an end-to-end demo; production models require representative historical outcomes.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1097280" cy="54864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520440" cy="224028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00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618488"/>
            <a:ext cx="3191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69BE"/>
                </a:solidFill>
                <a:latin typeface="Aptos Display"/>
              </a:defRPr>
            </a:pPr>
            <a:r>
              <a:t>Data 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011680"/>
            <a:ext cx="31912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customers.csv — 1,200 customers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transactions.csv — purchase history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retention_playbooks.csv — guidance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Optional future: campaign outcomes, returns, service contacts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520440" cy="224028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00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618488"/>
            <a:ext cx="3191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8C8C"/>
                </a:solidFill>
                <a:latin typeface="Aptos Display"/>
              </a:defRPr>
            </a:pPr>
            <a:r>
              <a:t>CLV prediction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011680"/>
            <a:ext cx="31912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B3D"/>
                </a:solidFill>
                <a:latin typeface="Aptos"/>
              </a:defRPr>
            </a:pPr>
            <a:r>
              <a:t>RandomForestRegressor</a:t>
            </a:r>
          </a:p>
          <a:p>
            <a:pPr>
              <a:spcAft>
                <a:spcPts val="300"/>
              </a:spcAft>
              <a:defRPr sz="1100">
                <a:solidFill>
                  <a:srgbClr val="1E2B3D"/>
                </a:solidFill>
                <a:latin typeface="Aptos"/>
              </a:defRPr>
            </a:pPr>
            <a:r>
              <a:t>Target: synthetic future 12-month value</a:t>
            </a:r>
          </a:p>
          <a:p>
            <a:pPr>
              <a:spcAft>
                <a:spcPts val="300"/>
              </a:spcAft>
              <a:defRPr sz="1100">
                <a:solidFill>
                  <a:srgbClr val="1E2B3D"/>
                </a:solidFill>
                <a:latin typeface="Aptos"/>
              </a:defRPr>
            </a:pPr>
            <a:r>
              <a:t>Features: tenure, frequency, AOV, recency, loyalty, returns, engagement</a:t>
            </a:r>
          </a:p>
          <a:p>
            <a:pPr>
              <a:spcAft>
                <a:spcPts val="300"/>
              </a:spcAft>
              <a:defRPr sz="1100">
                <a:solidFill>
                  <a:srgbClr val="1E2B3D"/>
                </a:solidFill>
                <a:latin typeface="Aptos"/>
              </a:defRPr>
            </a:pPr>
            <a:r>
              <a:t>Output: predicted 12-month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508760"/>
            <a:ext cx="3520440" cy="224028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67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618488"/>
            <a:ext cx="3191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72DA8"/>
                </a:solidFill>
                <a:latin typeface="Aptos Display"/>
              </a:defRPr>
            </a:pPr>
            <a:r>
              <a:t>Churn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011680"/>
            <a:ext cx="3191256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B3D"/>
                </a:solidFill>
                <a:latin typeface="Aptos"/>
              </a:defRPr>
            </a:pPr>
            <a:r>
              <a:t>RandomForestClassifier</a:t>
            </a:r>
          </a:p>
          <a:p>
            <a:pPr>
              <a:spcAft>
                <a:spcPts val="300"/>
              </a:spcAft>
              <a:defRPr sz="1100">
                <a:solidFill>
                  <a:srgbClr val="1E2B3D"/>
                </a:solidFill>
                <a:latin typeface="Aptos"/>
              </a:defRPr>
            </a:pPr>
            <a:r>
              <a:t>Target: synthetic churn within 90 days</a:t>
            </a:r>
          </a:p>
          <a:p>
            <a:pPr>
              <a:spcAft>
                <a:spcPts val="300"/>
              </a:spcAft>
              <a:defRPr sz="1100">
                <a:solidFill>
                  <a:srgbClr val="1E2B3D"/>
                </a:solidFill>
                <a:latin typeface="Aptos"/>
              </a:defRPr>
            </a:pPr>
            <a:r>
              <a:t>Features: purchase and engagement signals</a:t>
            </a:r>
          </a:p>
          <a:p>
            <a:pPr>
              <a:spcAft>
                <a:spcPts val="300"/>
              </a:spcAft>
              <a:defRPr sz="1100">
                <a:solidFill>
                  <a:srgbClr val="1E2B3D"/>
                </a:solidFill>
                <a:latin typeface="Aptos"/>
              </a:defRPr>
            </a:pPr>
            <a:r>
              <a:t>Output: churn probability and Low/Medium/High band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E2B3D"/>
                </a:solidFill>
                <a:latin typeface="Aptos"/>
              </a:defRPr>
            </a:pPr>
            <a:r>
              <a:t>Holdout MAE and ROC-AUC are demo metrics only; they do not establish production model quality.</a:t>
            </a:r>
          </a:p>
          <a:p>
            <a:pPr>
              <a:spcAft>
                <a:spcPts val="700"/>
              </a:spcAft>
              <a:defRPr sz="1600">
                <a:solidFill>
                  <a:srgbClr val="1E2B3D"/>
                </a:solidFill>
                <a:latin typeface="Aptos"/>
              </a:defRPr>
            </a:pPr>
            <a:r>
              <a:t>Recommended next step: time-based validation, calibration, cohort monitoring and bias/privacy review.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A7A"/>
                </a:solidFill>
                <a:latin typeface="Aptos"/>
              </a:defRPr>
            </a:pPr>
            <a:r>
              <a:t>Customer Lifetime Value Agentic AI  |  Modular Python solution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82B69"/>
                </a:solidFill>
                <a:latin typeface="Aptos Display"/>
              </a:defRPr>
            </a:pPr>
            <a:r>
              <a:t>Agent Workflow &amp; Retention Decisioning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A7A"/>
                </a:solidFill>
                <a:latin typeface="Aptos"/>
              </a:defRPr>
            </a:pPr>
            <a:r>
              <a:t>Agents coordinate through explicit Python modules—not through MCP or LangChain.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1097280" cy="54864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1691640" cy="196596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00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938528"/>
            <a:ext cx="13624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9BE"/>
                </a:solidFill>
                <a:latin typeface="Aptos Display"/>
              </a:defRPr>
            </a:pPr>
            <a:r>
              <a:t>1. Request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331720"/>
            <a:ext cx="13624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B3D"/>
                </a:solidFill>
                <a:latin typeface="Aptos"/>
              </a:defRPr>
            </a:pPr>
            <a:r>
              <a:t>User opens CLV or churn view</a:t>
            </a:r>
          </a:p>
        </p:txBody>
      </p:sp>
      <p:sp>
        <p:nvSpPr>
          <p:cNvPr id="8" name="Chevron 7"/>
          <p:cNvSpPr/>
          <p:nvPr/>
        </p:nvSpPr>
        <p:spPr>
          <a:xfrm>
            <a:off x="2212848" y="2487168"/>
            <a:ext cx="228600" cy="384048"/>
          </a:xfrm>
          <a:prstGeom prst="chevron">
            <a:avLst/>
          </a:prstGeom>
          <a:solidFill>
            <a:srgbClr val="5C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377440" y="1828800"/>
            <a:ext cx="1691640" cy="196596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00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2032" y="1938528"/>
            <a:ext cx="13624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8C8C"/>
                </a:solidFill>
                <a:latin typeface="Aptos Display"/>
              </a:defRPr>
            </a:pPr>
            <a:r>
              <a:t>2.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2331720"/>
            <a:ext cx="136245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B3D"/>
                </a:solidFill>
                <a:latin typeface="Aptos"/>
              </a:defRPr>
            </a:pPr>
            <a:r>
              <a:t>ML agent estimates CLV and churn risk</a:t>
            </a:r>
          </a:p>
        </p:txBody>
      </p:sp>
      <p:sp>
        <p:nvSpPr>
          <p:cNvPr id="12" name="Chevron 11"/>
          <p:cNvSpPr/>
          <p:nvPr/>
        </p:nvSpPr>
        <p:spPr>
          <a:xfrm>
            <a:off x="4087368" y="2487168"/>
            <a:ext cx="228600" cy="384048"/>
          </a:xfrm>
          <a:prstGeom prst="chevron">
            <a:avLst/>
          </a:prstGeom>
          <a:solidFill>
            <a:srgbClr val="5C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51960" y="1828800"/>
            <a:ext cx="1783080" cy="196596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67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16552" y="1938528"/>
            <a:ext cx="145389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72DA8"/>
                </a:solidFill>
                <a:latin typeface="Aptos Display"/>
              </a:defRPr>
            </a:pPr>
            <a:r>
              <a:t>3. Retrieve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331720"/>
            <a:ext cx="1453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B3D"/>
                </a:solidFill>
                <a:latin typeface="Aptos"/>
              </a:defRPr>
            </a:pPr>
            <a:r>
              <a:t>ChromaDB finds relevant retention playbooks</a:t>
            </a:r>
          </a:p>
        </p:txBody>
      </p:sp>
      <p:sp>
        <p:nvSpPr>
          <p:cNvPr id="16" name="Chevron 15"/>
          <p:cNvSpPr/>
          <p:nvPr/>
        </p:nvSpPr>
        <p:spPr>
          <a:xfrm>
            <a:off x="6053328" y="2487168"/>
            <a:ext cx="228600" cy="384048"/>
          </a:xfrm>
          <a:prstGeom prst="chevron">
            <a:avLst/>
          </a:prstGeom>
          <a:solidFill>
            <a:srgbClr val="5C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17920" y="1828800"/>
            <a:ext cx="1874519" cy="196596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25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82512" y="1938528"/>
            <a:ext cx="15453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5844A"/>
                </a:solidFill>
                <a:latin typeface="Aptos Display"/>
              </a:defRPr>
            </a:pPr>
            <a:r>
              <a:t>4. Recommend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331720"/>
            <a:ext cx="1545336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B3D"/>
                </a:solidFill>
                <a:latin typeface="Aptos"/>
              </a:defRPr>
            </a:pPr>
            <a:r>
              <a:t>Rule-based or optional LLM guidance is generated</a:t>
            </a:r>
          </a:p>
        </p:txBody>
      </p:sp>
      <p:sp>
        <p:nvSpPr>
          <p:cNvPr id="20" name="Chevron 19"/>
          <p:cNvSpPr/>
          <p:nvPr/>
        </p:nvSpPr>
        <p:spPr>
          <a:xfrm>
            <a:off x="8110728" y="2487168"/>
            <a:ext cx="228600" cy="384048"/>
          </a:xfrm>
          <a:prstGeom prst="chevron">
            <a:avLst/>
          </a:prstGeom>
          <a:solidFill>
            <a:srgbClr val="5C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75320" y="1828800"/>
            <a:ext cx="1783080" cy="196596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EBAD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39912" y="1938528"/>
            <a:ext cx="145389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EBAD24"/>
                </a:solidFill>
                <a:latin typeface="Aptos Display"/>
              </a:defRPr>
            </a:pPr>
            <a:r>
              <a:t>5.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2331720"/>
            <a:ext cx="1453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B3D"/>
                </a:solidFill>
                <a:latin typeface="Aptos"/>
              </a:defRPr>
            </a:pPr>
            <a:r>
              <a:t>Human validates action, consent and contact limits</a:t>
            </a:r>
          </a:p>
        </p:txBody>
      </p:sp>
      <p:sp>
        <p:nvSpPr>
          <p:cNvPr id="24" name="Chevron 23"/>
          <p:cNvSpPr/>
          <p:nvPr/>
        </p:nvSpPr>
        <p:spPr>
          <a:xfrm>
            <a:off x="10076688" y="2487168"/>
            <a:ext cx="228600" cy="384048"/>
          </a:xfrm>
          <a:prstGeom prst="chevron">
            <a:avLst/>
          </a:prstGeom>
          <a:solidFill>
            <a:srgbClr val="5C6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241280" y="1828800"/>
            <a:ext cx="1783080" cy="196596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00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405872" y="1938528"/>
            <a:ext cx="1453895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9BE"/>
                </a:solidFill>
                <a:latin typeface="Aptos Display"/>
              </a:defRPr>
            </a:pPr>
            <a:r>
              <a:t>6. Measure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05872" y="2331720"/>
            <a:ext cx="1453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1E2B3D"/>
                </a:solidFill>
                <a:latin typeface="Aptos"/>
              </a:defRPr>
            </a:pPr>
            <a:r>
              <a:t>Campaign outcomes feed future 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3434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B3D"/>
                </a:solidFill>
                <a:latin typeface="Aptos"/>
              </a:defRPr>
            </a:pPr>
            <a:r>
              <a:t>Recommendation outputs should explain the reason, suggested channel, test design and success measures.</a:t>
            </a:r>
          </a:p>
          <a:p>
            <a:pPr>
              <a:spcAft>
                <a:spcPts val="700"/>
              </a:spcAft>
              <a:defRPr sz="1500">
                <a:solidFill>
                  <a:srgbClr val="1E2B3D"/>
                </a:solidFill>
                <a:latin typeface="Aptos"/>
              </a:defRPr>
            </a:pPr>
            <a:r>
              <a:t>Use holdout groups and incremental contribution margin to avoid mistaking correlation for campaign impact.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A7A"/>
                </a:solidFill>
                <a:latin typeface="Aptos"/>
              </a:defRPr>
            </a:pPr>
            <a:r>
              <a:t>Customer Lifetime Value Agentic AI  |  Modular Python solution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82B69"/>
                </a:solidFill>
                <a:latin typeface="Aptos Display"/>
              </a:defRPr>
            </a:pPr>
            <a:r>
              <a:t>Persona-Based Access &amp;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A7A"/>
                </a:solidFill>
                <a:latin typeface="Aptos"/>
              </a:defRPr>
            </a:pPr>
            <a:r>
              <a:t>The UI hides unauthorized screens and the API independently enforces screen permissions and region scope.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1097280" cy="54864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520440" cy="228600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00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618488"/>
            <a:ext cx="3191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69BE"/>
                </a:solidFill>
                <a:latin typeface="Aptos Display"/>
              </a:defRPr>
            </a:pPr>
            <a:r>
              <a:t>CRM 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011680"/>
            <a:ext cx="31912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All customer and recommendation screens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LLM usage dashboard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All demo regions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520440" cy="228600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00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618488"/>
            <a:ext cx="3191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8C8C"/>
                </a:solidFill>
                <a:latin typeface="Aptos Display"/>
              </a:defRPr>
            </a:pPr>
            <a:r>
              <a:t>Retention / Regional Analyst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011680"/>
            <a:ext cx="31912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Retention Analyst: India + UK scope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Regional Manager: India scope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No admin or usage dashboard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508760"/>
            <a:ext cx="3520440" cy="228600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67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618488"/>
            <a:ext cx="3191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72DA8"/>
                </a:solidFill>
                <a:latin typeface="Aptos Display"/>
              </a:defRPr>
            </a:pPr>
            <a:r>
              <a:t>Auditor / Administrator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011680"/>
            <a:ext cx="3191256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Auditor: read-only screens and audit views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Administrator: access and audit management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Sensitive actions logged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16052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E2B3D"/>
                </a:solidFill>
                <a:latin typeface="Aptos"/>
              </a:defRPr>
            </a:pPr>
            <a:r>
              <a:t>Demo authentication uses static credentials and an X-Username header; this is not production-grade authentication.</a:t>
            </a:r>
          </a:p>
          <a:p>
            <a:pPr>
              <a:spcAft>
                <a:spcPts val="700"/>
              </a:spcAft>
              <a:defRPr sz="1400">
                <a:solidFill>
                  <a:srgbClr val="1E2B3D"/>
                </a:solidFill>
                <a:latin typeface="Aptos"/>
              </a:defRPr>
            </a:pPr>
            <a:r>
              <a:t>Production hardening: Entra ID/OIDC, verified JWTs, secret manager, TLS, least privilege and retention policies.</a:t>
            </a:r>
          </a:p>
          <a:p>
            <a:pPr>
              <a:spcAft>
                <a:spcPts val="700"/>
              </a:spcAft>
              <a:defRPr sz="1400">
                <a:solidFill>
                  <a:srgbClr val="1E2B3D"/>
                </a:solidFill>
                <a:latin typeface="Aptos"/>
              </a:defRPr>
            </a:pPr>
            <a:r>
              <a:t>Honor consent, unsubscribe requests, contact frequency caps and applicable privacy laws.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A7A"/>
                </a:solidFill>
                <a:latin typeface="Aptos"/>
              </a:defRPr>
            </a:pPr>
            <a:r>
              <a:t>Customer Lifetime Value Agentic AI  |  Modular Python solution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82B69"/>
                </a:solidFill>
                <a:latin typeface="Aptos Display"/>
              </a:defRPr>
            </a:pPr>
            <a:r>
              <a:t>LLM Usage, Audit &amp; Operational Monitoring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A7A"/>
                </a:solidFill>
                <a:latin typeface="Aptos"/>
              </a:defRPr>
            </a:pPr>
            <a:r>
              <a:t>SQLite provides lightweight prototype telemetry; extend to centralized observability for production.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1097280" cy="54864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3520440" cy="210312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67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664207"/>
            <a:ext cx="3191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72DA8"/>
                </a:solidFill>
                <a:latin typeface="Aptos Display"/>
              </a:defRPr>
            </a:pPr>
            <a:r>
              <a:t>LLM usage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057400"/>
            <a:ext cx="319125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Request count and status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Input/output token totals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Estimated cost and latency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Model, user and purpose breakdown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54480"/>
            <a:ext cx="3520440" cy="210312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00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664207"/>
            <a:ext cx="3191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69BE"/>
                </a:solidFill>
                <a:latin typeface="Aptos Display"/>
              </a:defRPr>
            </a:pPr>
            <a:r>
              <a:t>Audit trail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057400"/>
            <a:ext cx="319125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Login events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Recommendation and chat actions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User/persona context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Access-denied events should be added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554480"/>
            <a:ext cx="3520440" cy="210312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00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664207"/>
            <a:ext cx="3191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8C8C"/>
                </a:solidFill>
                <a:latin typeface="Aptos Display"/>
              </a:defRPr>
            </a:pPr>
            <a:r>
              <a:t>Operational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057400"/>
            <a:ext cx="3191256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API health endpoint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Timeouts and error handling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Structured logs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Model drift and quality 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51960"/>
            <a:ext cx="106984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B3D"/>
                </a:solidFill>
                <a:latin typeface="Aptos"/>
              </a:defRPr>
            </a:pPr>
            <a:r>
              <a:t>Estimated LLM prices in the demo are illustrative; update them to the selected provider/model rates.</a:t>
            </a:r>
          </a:p>
          <a:p>
            <a:pPr>
              <a:spcAft>
                <a:spcPts val="700"/>
              </a:spcAft>
              <a:defRPr sz="1500">
                <a:solidFill>
                  <a:srgbClr val="1E2B3D"/>
                </a:solidFill>
                <a:latin typeface="Aptos"/>
              </a:defRPr>
            </a:pPr>
            <a:r>
              <a:t>Never log API keys or unnecessary personal data; define access and retention for telemetry.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A7A"/>
                </a:solidFill>
                <a:latin typeface="Aptos"/>
              </a:defRPr>
            </a:pPr>
            <a:r>
              <a:t>Customer Lifetime Value Agentic AI  |  Modular Python solution  |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082B69"/>
                </a:solidFill>
                <a:latin typeface="Aptos Display"/>
              </a:defRPr>
            </a:pPr>
            <a:r>
              <a:t>Deployment &amp; 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C6A7A"/>
                </a:solidFill>
                <a:latin typeface="Aptos"/>
              </a:defRPr>
            </a:pPr>
            <a:r>
              <a:t>Local prototype first; production readiness depends on security, data quality and model validation.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225296"/>
            <a:ext cx="1097280" cy="54864"/>
          </a:xfrm>
          <a:prstGeom prst="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520440" cy="219456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258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618488"/>
            <a:ext cx="3191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5844A"/>
                </a:solidFill>
                <a:latin typeface="Aptos Display"/>
              </a:defRPr>
            </a:pPr>
            <a:r>
              <a:t>Local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011680"/>
            <a:ext cx="319125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Streamlit: port 8501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FastAPI: port 8000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CSV synthetic data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Persistent ChromaDB directory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SQLite usage/audit database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520440" cy="219456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00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618488"/>
            <a:ext cx="3191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069BE"/>
                </a:solidFill>
                <a:latin typeface="Aptos Display"/>
              </a:defRPr>
            </a:pPr>
            <a:r>
              <a:t>Production prerequisites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011680"/>
            <a:ext cx="319125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Enterprise identity and secrets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Database/data platform integration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PII minimization and consent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Monitoring and alerting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Validated model registry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508760"/>
            <a:ext cx="3520440" cy="219456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67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57031" y="1618488"/>
            <a:ext cx="319125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672DA8"/>
                </a:solidFill>
                <a:latin typeface="Aptos Display"/>
              </a:defRPr>
            </a:pPr>
            <a:r>
              <a:t>Suggested phases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1" y="2011680"/>
            <a:ext cx="3191256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1. Run synthetic demo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2. Validate business definitions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3. Integrate historical data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4. Backtest and review models</a:t>
            </a:r>
          </a:p>
          <a:p>
            <a:pPr>
              <a:spcAft>
                <a:spcPts val="300"/>
              </a:spcAft>
              <a:defRPr sz="1200">
                <a:solidFill>
                  <a:srgbClr val="1E2B3D"/>
                </a:solidFill>
                <a:latin typeface="Aptos"/>
              </a:defRPr>
            </a:pPr>
            <a:r>
              <a:t>5. Pilot with human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51960"/>
            <a:ext cx="106984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B3D"/>
                </a:solidFill>
                <a:latin typeface="Aptos"/>
              </a:defRPr>
            </a:pPr>
            <a:r>
              <a:t>Source package: customer_clv_agentic_no_mcp_project_v2.zip</a:t>
            </a:r>
          </a:p>
          <a:p>
            <a:pPr>
              <a:spcAft>
                <a:spcPts val="700"/>
              </a:spcAft>
              <a:defRPr sz="1500">
                <a:solidFill>
                  <a:srgbClr val="1E2B3D"/>
                </a:solidFill>
                <a:latin typeface="Aptos"/>
              </a:defRPr>
            </a:pPr>
            <a:r>
              <a:t>Start API with uvicorn; start UI with Streamlit; see README for Windows commands and demo accounts.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A7A"/>
                </a:solidFill>
                <a:latin typeface="Aptos"/>
              </a:defRPr>
            </a:pPr>
            <a:r>
              <a:t>Customer Lifetime Value Agentic AI  |  Modular Python solution  |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B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2344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 Display"/>
              </a:defRPr>
            </a:pPr>
            <a:r>
              <a:t>Expected Business Value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2240280"/>
            <a:ext cx="3246120" cy="201168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008C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2350008"/>
            <a:ext cx="29169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8C8C"/>
                </a:solidFill>
                <a:latin typeface="Aptos Display"/>
              </a:defRPr>
            </a:pPr>
            <a:r>
              <a:t>Prioritize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743200"/>
            <a:ext cx="291693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2B3D"/>
                </a:solidFill>
                <a:latin typeface="Aptos"/>
              </a:defRPr>
            </a:pPr>
            <a:r>
              <a:t>Focus retention effort on customers with a combination of high value and high churn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240280"/>
            <a:ext cx="3246120" cy="201168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672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45152" y="2350008"/>
            <a:ext cx="29169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72DA8"/>
                </a:solidFill>
                <a:latin typeface="Aptos Display"/>
              </a:defRPr>
            </a:pPr>
            <a:r>
              <a:t>Personalize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45152" y="2743200"/>
            <a:ext cx="291693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2B3D"/>
                </a:solidFill>
                <a:latin typeface="Aptos"/>
              </a:defRPr>
            </a:pPr>
            <a:r>
              <a:t>Use relevant playbooks and optional LLM explanations to guide suitable actions.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240280"/>
            <a:ext cx="3246120" cy="2011680"/>
          </a:xfrm>
          <a:prstGeom prst="roundRect">
            <a:avLst/>
          </a:prstGeom>
          <a:solidFill>
            <a:srgbClr val="F2F7FC"/>
          </a:solidFill>
          <a:ln w="16510">
            <a:solidFill>
              <a:srgbClr val="0069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02752" y="2350008"/>
            <a:ext cx="2916936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0069BE"/>
                </a:solidFill>
                <a:latin typeface="Aptos Display"/>
              </a:defRPr>
            </a:pPr>
            <a:r>
              <a:t>Measure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02752" y="2743200"/>
            <a:ext cx="291693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2B3D"/>
                </a:solidFill>
                <a:latin typeface="Aptos"/>
              </a:defRPr>
            </a:pPr>
            <a:r>
              <a:t>Use holdout experiments, retention lift and incremental contribution margin.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0292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DCEBF8"/>
                </a:solidFill>
                <a:latin typeface="Aptos"/>
              </a:defRPr>
            </a:pPr>
            <a:r>
              <a:t>CLV is a decision-support estimate—not a guarantee. Human review and responsible customer engagement remain essential.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47104"/>
            <a:ext cx="11155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C6A7A"/>
                </a:solidFill>
                <a:latin typeface="Aptos"/>
              </a:defRPr>
            </a:pPr>
            <a:r>
              <a:t>Customer Lifetime Value Agentic AI  |  Modular Python solution  |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