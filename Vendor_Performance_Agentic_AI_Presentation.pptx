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C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29800" y="137160"/>
            <a:ext cx="2361895" cy="960120"/>
          </a:xfrm>
          <a:prstGeom prst="rect">
            <a:avLst/>
          </a:prstGeom>
          <a:solidFill>
            <a:srgbClr val="6C3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FFFFFF"/>
                </a:solidFill>
                <a:latin typeface="Aptos Display"/>
              </a:defRPr>
            </a:pPr>
            <a:r>
              <a:t>Vendor Performance</a:t>
            </a:r>
          </a:p>
          <a:p>
            <a:pPr>
              <a:defRPr sz="3000" b="1">
                <a:solidFill>
                  <a:srgbClr val="78E2DE"/>
                </a:solidFill>
                <a:latin typeface="Aptos Display"/>
              </a:defRPr>
            </a:pPr>
            <a:r>
              <a:t>Agentic AI — Modular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Score suppliers • Detect underperformance • Recommend proactive interventions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5F5"/>
                </a:solidFill>
                <a:latin typeface="Aptos"/>
              </a:defRPr>
            </a:pPr>
            <a:r>
              <a:t>Python | Streamlit | FastAPI | scikit-learn | ChromaDB | Optional 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42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CFE8"/>
                </a:solidFill>
                <a:latin typeface="Aptos"/>
              </a:defRPr>
            </a:pPr>
            <a:r>
              <a:t>Persona-based access • Synthetic data • No MCP • No LangChain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C64"/>
                </a:solidFill>
                <a:latin typeface="Aptos Display"/>
              </a:defRPr>
            </a:pPr>
            <a:r>
              <a:t>Business Context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C"/>
                </a:solidFill>
                <a:latin typeface="Aptos"/>
              </a:defRPr>
            </a:pPr>
            <a:r>
              <a:t>Move from reactive supplier reviews to proactive, evidence-based supplier performance management.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078992" cy="50292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192024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1B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7BE"/>
                </a:solidFill>
                <a:latin typeface="Aptos Display"/>
              </a:defRPr>
            </a:pPr>
            <a:r>
              <a:t>Current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Supplier KPIs are spread across systems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Delivery delays discovered too late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Quality defects and invoice variance are costly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Supplier reviews can be inconsistent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192024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0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789"/>
                </a:solidFill>
                <a:latin typeface="Aptos Display"/>
              </a:defRPr>
            </a:pPr>
            <a:r>
              <a:t>Business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01168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Combine delivery, quality, cost and lead-time signals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Create a consistent weighted score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Flag underperforming suppliers early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Recommend targeted corrective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520440" cy="192024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6C3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C30A8"/>
                </a:solidFill>
                <a:latin typeface="Aptos Display"/>
              </a:defRPr>
            </a:pPr>
            <a:r>
              <a:t>Target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1168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Earlier operational intervention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More transparent supplier comparisons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Better sourcing and negotiation decisions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Trackable corrective-action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Primary users: Procurement Manager, Operations Manager, Business Admin and Auditor.</a:t>
            </a:r>
          </a:p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Recommendations are decision support; supplier sanctions, contract changes and sourcing decisions remain human-approved.</a:t>
            </a:r>
          </a:p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Prototype uses synthetic data and requires business validation before production.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5624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C"/>
                </a:solidFill>
                <a:latin typeface="Aptos"/>
              </a:defRPr>
            </a:pPr>
            <a:r>
              <a:t>Vendor Performance Agentic AI  |  Modular Python solution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C64"/>
                </a:solidFill>
                <a:latin typeface="Aptos Display"/>
              </a:defRPr>
            </a:pPr>
            <a:r>
              <a:t>Personas, Goals &amp; MVP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C"/>
                </a:solidFill>
                <a:latin typeface="Aptos"/>
              </a:defRPr>
            </a:pPr>
            <a:r>
              <a:t>Different roles see only the screens and supplier data authorized for their responsibilities.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078992" cy="50292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697480" cy="210312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1B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18488"/>
            <a:ext cx="23865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67BE"/>
                </a:solidFill>
                <a:latin typeface="Aptos Display"/>
              </a:defRPr>
            </a:pPr>
            <a:r>
              <a:t>Procurement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2386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Compare supplier scores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Review cost and quality trends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Generate supplier recommendations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Prioritize corrective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697480" cy="210312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0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618488"/>
            <a:ext cx="23865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789"/>
                </a:solidFill>
                <a:latin typeface="Aptos Display"/>
              </a:defRPr>
            </a:pPr>
            <a:r>
              <a:t>Operations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011680"/>
            <a:ext cx="2386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Monitor delivery reliability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Investigate lead-time variance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Review operational exceptions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Track improvement plans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2697480" cy="210312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6C3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618488"/>
            <a:ext cx="23865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C30A8"/>
                </a:solidFill>
                <a:latin typeface="Aptos Display"/>
              </a:defRPr>
            </a:pPr>
            <a:r>
              <a:t>Business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011680"/>
            <a:ext cx="2386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Manage demo users and access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View all authorized dashboards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Monitor application and LLM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08760"/>
            <a:ext cx="2331720" cy="210312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CA6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1618488"/>
            <a:ext cx="20208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A691C"/>
                </a:solidFill>
                <a:latin typeface="Aptos Display"/>
              </a:defRPr>
            </a:pPr>
            <a:r>
              <a:t>Auditor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2011680"/>
            <a:ext cx="202082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Read-only dashboards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Review audit trail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Inspect model and usage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MVP: supplier scorecards, risk bands, alternate supplier insights, evidence retrieval and a conversational assistant.</a:t>
            </a:r>
          </a:p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Authorization is enforced by backend endpoints as well as frontend navigation.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5624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C"/>
                </a:solidFill>
                <a:latin typeface="Aptos"/>
              </a:defRPr>
            </a:pPr>
            <a:r>
              <a:t>Vendor Performance Agentic AI  |  Modular Python solution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C64"/>
                </a:solidFill>
                <a:latin typeface="Aptos Display"/>
              </a:defRPr>
            </a:pPr>
            <a:r>
              <a:t>Modular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C"/>
                </a:solidFill>
                <a:latin typeface="Aptos"/>
              </a:defRPr>
            </a:pPr>
            <a:r>
              <a:t>Separate UI, API, agents, data services and cross-cutting controls — no MCP or LangChain.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078992" cy="50292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endor_performance_agentic_no_mc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111556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C"/>
                </a:solidFill>
                <a:latin typeface="Aptos"/>
              </a:defRPr>
            </a:pPr>
            <a:r>
              <a:t>Vendor Performance Agentic AI  |  Modular Python solution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C64"/>
                </a:solidFill>
                <a:latin typeface="Aptos Display"/>
              </a:defRPr>
            </a:pPr>
            <a:r>
              <a:t>Supplier Scoring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C"/>
                </a:solidFill>
                <a:latin typeface="Aptos"/>
              </a:defRPr>
            </a:pPr>
            <a:r>
              <a:t>A transparent weighted score combines the four performance dimensions from the use case.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078992" cy="50292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6400800" cy="594360"/>
          </a:xfrm>
          <a:prstGeom prst="roundRect">
            <a:avLst/>
          </a:prstGeom>
          <a:solidFill>
            <a:srgbClr val="F2F7FC"/>
          </a:solidFill>
          <a:ln>
            <a:solidFill>
              <a:srgbClr val="1B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D3E"/>
                </a:solidFill>
                <a:latin typeface="Aptos"/>
              </a:defRPr>
            </a:pPr>
            <a:r>
              <a:t>Delivery timeliness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66420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B67BE"/>
                </a:solidFill>
                <a:latin typeface="Aptos Display"/>
              </a:defRPr>
            </a:pPr>
            <a:r>
              <a:t>35%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05456"/>
            <a:ext cx="6400800" cy="594360"/>
          </a:xfrm>
          <a:prstGeom prst="roundRect">
            <a:avLst/>
          </a:prstGeom>
          <a:solidFill>
            <a:srgbClr val="F2F7FC"/>
          </a:solidFill>
          <a:ln>
            <a:solidFill>
              <a:srgbClr val="0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D3E"/>
                </a:solidFill>
                <a:latin typeface="Aptos"/>
              </a:defRPr>
            </a:pPr>
            <a:r>
              <a:t>Quality / defect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596896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8789"/>
                </a:solidFill>
                <a:latin typeface="Aptos Display"/>
              </a:defRPr>
            </a:pPr>
            <a:r>
              <a:t>30%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38144"/>
            <a:ext cx="6400800" cy="594360"/>
          </a:xfrm>
          <a:prstGeom prst="roundRect">
            <a:avLst/>
          </a:prstGeom>
          <a:solidFill>
            <a:srgbClr val="F2F7FC"/>
          </a:solidFill>
          <a:ln>
            <a:solidFill>
              <a:srgbClr val="6C3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57015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D3E"/>
                </a:solidFill>
                <a:latin typeface="Aptos"/>
              </a:defRPr>
            </a:pPr>
            <a:r>
              <a:t>Cost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529584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6C30A8"/>
                </a:solidFill>
                <a:latin typeface="Aptos Display"/>
              </a:defRPr>
            </a:pPr>
            <a:r>
              <a:t>20%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70832"/>
            <a:ext cx="6400800" cy="594360"/>
          </a:xfrm>
          <a:prstGeom prst="roundRect">
            <a:avLst/>
          </a:prstGeom>
          <a:solidFill>
            <a:srgbClr val="F2F7FC"/>
          </a:solidFill>
          <a:ln>
            <a:solidFill>
              <a:srgbClr val="CA6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9704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D3E"/>
                </a:solidFill>
                <a:latin typeface="Aptos"/>
              </a:defRPr>
            </a:pPr>
            <a:r>
              <a:t>Lead-time 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46227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CA691C"/>
                </a:solidFill>
                <a:latin typeface="Aptos Display"/>
              </a:defRPr>
            </a:pPr>
            <a:r>
              <a:t>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691640"/>
            <a:ext cx="3657600" cy="205740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6C3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801368"/>
            <a:ext cx="33467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C30A8"/>
                </a:solidFill>
                <a:latin typeface="Aptos Display"/>
              </a:defRPr>
            </a:pPr>
            <a:r>
              <a:t>Score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194560"/>
            <a:ext cx="33467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02D3E"/>
                </a:solidFill>
                <a:latin typeface="Aptos"/>
              </a:defRPr>
            </a:pPr>
            <a:r>
              <a:t>Overall score: 0–100</a:t>
            </a:r>
          </a:p>
          <a:p>
            <a:pPr>
              <a:spcAft>
                <a:spcPts val="300"/>
              </a:spcAft>
              <a:defRPr sz="1300">
                <a:solidFill>
                  <a:srgbClr val="202D3E"/>
                </a:solidFill>
                <a:latin typeface="Aptos"/>
              </a:defRPr>
            </a:pPr>
            <a:r>
              <a:t>Higher score = stronger performance</a:t>
            </a:r>
          </a:p>
          <a:p>
            <a:pPr>
              <a:spcAft>
                <a:spcPts val="300"/>
              </a:spcAft>
              <a:defRPr sz="1300">
                <a:solidFill>
                  <a:srgbClr val="202D3E"/>
                </a:solidFill>
                <a:latin typeface="Aptos"/>
              </a:defRPr>
            </a:pPr>
            <a:r>
              <a:t>Risk bands configurable by business</a:t>
            </a:r>
          </a:p>
          <a:p>
            <a:pPr>
              <a:spcAft>
                <a:spcPts val="300"/>
              </a:spcAft>
              <a:defRPr sz="1300">
                <a:solidFill>
                  <a:srgbClr val="202D3E"/>
                </a:solidFill>
                <a:latin typeface="Aptos"/>
              </a:defRPr>
            </a:pPr>
            <a:r>
              <a:t>Explain component scores and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D3E"/>
                </a:solidFill>
                <a:latin typeface="Aptos"/>
              </a:defRPr>
            </a:pPr>
            <a:r>
              <a:t>Scores support prioritization; thresholds and weight calibration should be agreed with procurement and supply-chain stakeholders.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5624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C"/>
                </a:solidFill>
                <a:latin typeface="Aptos"/>
              </a:defRPr>
            </a:pPr>
            <a:r>
              <a:t>Vendor Performance Agentic AI  |  Modular Python solution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C64"/>
                </a:solidFill>
                <a:latin typeface="Aptos Display"/>
              </a:defRPr>
            </a:pPr>
            <a:r>
              <a:t>Agent Design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C"/>
                </a:solidFill>
                <a:latin typeface="Aptos"/>
              </a:defRPr>
            </a:pPr>
            <a:r>
              <a:t>Specialized Python agents coordinate through direct module calls and backend orchestration.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078992" cy="50292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606040" cy="205740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1B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64207"/>
            <a:ext cx="22951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67BE"/>
                </a:solidFill>
                <a:latin typeface="Aptos Display"/>
              </a:defRPr>
            </a:pPr>
            <a:r>
              <a:t>1. Scoring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5740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Join supplier KPI data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Normalize metrics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Calculate weighted score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Assign performance band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06040" cy="205740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6C3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664207"/>
            <a:ext cx="22951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C30A8"/>
                </a:solidFill>
                <a:latin typeface="Aptos Display"/>
              </a:defRPr>
            </a:pPr>
            <a:r>
              <a:t>2. Retrieval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05740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Search supplier playbooks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Use ChromaDB vector search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Keyword fallback if unavailable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Return relevant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2606040" cy="205740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0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64207"/>
            <a:ext cx="22951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789"/>
                </a:solidFill>
                <a:latin typeface="Aptos Display"/>
              </a:defRPr>
            </a:pPr>
            <a:r>
              <a:t>3. Recommendation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5740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Explain score drivers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Suggest corrective actions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Compare alternate suppliers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Use optional OpenAI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54480"/>
            <a:ext cx="2468880" cy="205740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CA6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664207"/>
            <a:ext cx="21579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A691C"/>
                </a:solidFill>
                <a:latin typeface="Aptos Display"/>
              </a:defRPr>
            </a:pPr>
            <a:r>
              <a:t>4. Chat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057400"/>
            <a:ext cx="2157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Natural-language supplier Q&amp;A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Summarize trends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Answer from scoped evidence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Log usage and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Flow: request → authorize persona and supplier scope → load data → score → retrieve evidence → recommend → log activity.</a:t>
            </a:r>
          </a:p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LLM is used for explanation and narrative recommendations, not as the source of the weighted numerical score.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5624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C"/>
                </a:solidFill>
                <a:latin typeface="Aptos"/>
              </a:defRPr>
            </a:pPr>
            <a:r>
              <a:t>Vendor Performance Agentic AI  |  Modular Python solution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C64"/>
                </a:solidFill>
                <a:latin typeface="Aptos Display"/>
              </a:defRPr>
            </a:pPr>
            <a:r>
              <a:t>Synthetic Data &amp; Retrieval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C"/>
                </a:solidFill>
                <a:latin typeface="Aptos"/>
              </a:defRPr>
            </a:pPr>
            <a:r>
              <a:t>Reproducible demo data supports an end-to-end prototype without requiring access to enterprise supplier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078992" cy="50292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219456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1B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67BE"/>
                </a:solidFill>
                <a:latin typeface="Aptos Display"/>
              </a:defRPr>
            </a:pPr>
            <a:r>
              <a:t>Supplier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2095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vendors.csv — 30 vendors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Supplier identity and category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Region and supplier attributes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Performance grouping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219456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0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789"/>
                </a:solidFill>
                <a:latin typeface="Aptos Display"/>
              </a:defRPr>
            </a:pPr>
            <a:r>
              <a:t>Operational / financial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011680"/>
            <a:ext cx="32095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delivery_logs.csv — 1,200 rows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quality_inspections.csv — 1,200 rows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invoice_data.csv — 1,200 rows</a:t>
            </a:r>
          </a:p>
          <a:p>
            <a:pPr>
              <a:spcAft>
                <a:spcPts val="3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lead_time_logs.csv — 1,200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520440" cy="219456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6C3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C30A8"/>
                </a:solidFill>
                <a:latin typeface="Aptos Display"/>
              </a:defRPr>
            </a:pPr>
            <a:r>
              <a:t>Knowledge and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11680"/>
            <a:ext cx="32095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supplier_playbooks.csv — 5 playbooks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ChromaDB: persistent vector collection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SQLite: usage and audit records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CSV fallback remains inspectable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Potential enterprise sources: ERP purchase orders, delivery events, quality inspections, invoices and lead-time history.</a:t>
            </a:r>
          </a:p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Use consistent vendor IDs, event timestamps, units and data-quality checks when replacing synthetic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5624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C"/>
                </a:solidFill>
                <a:latin typeface="Aptos"/>
              </a:defRPr>
            </a:pPr>
            <a:r>
              <a:t>Vendor Performance Agentic AI  |  Modular Python solution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C64"/>
                </a:solidFill>
                <a:latin typeface="Aptos Display"/>
              </a:defRPr>
            </a:pPr>
            <a:r>
              <a:t>Persona Security, Governance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C"/>
                </a:solidFill>
                <a:latin typeface="Aptos"/>
              </a:defRPr>
            </a:pPr>
            <a:r>
              <a:t>Frontend screen restrictions improve usability; backend checks provide the enforcement boundary.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078992" cy="50292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219456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1B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67BE"/>
                </a:solidFill>
                <a:latin typeface="Aptos Display"/>
              </a:defRPr>
            </a:pPr>
            <a:r>
              <a:t>Authentication &amp;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2095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Demo accounts by persona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Backend screen allow-list checks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Supplier/category scope filtering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Auditor is read-only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219456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6C3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C30A8"/>
                </a:solidFill>
                <a:latin typeface="Aptos Display"/>
              </a:defRPr>
            </a:pPr>
            <a:r>
              <a:t>LLM usage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011680"/>
            <a:ext cx="32095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Request count and status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Input/output tokens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Estimated cost and latency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User/model/purpose breakdown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520440" cy="219456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0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789"/>
                </a:solidFill>
                <a:latin typeface="Aptos Display"/>
              </a:defRPr>
            </a:pPr>
            <a:r>
              <a:t>Operational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11680"/>
            <a:ext cx="32095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Login and agent action records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Errors and performance metrics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Supplier recommendation trace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Retention and access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Demo credentials and username headers are for local development only.</a:t>
            </a:r>
          </a:p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Production: verified Entra ID/OIDC tokens, secrets management, TLS, least privilege, input validation and controlled log retention.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5624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C"/>
                </a:solidFill>
                <a:latin typeface="Aptos"/>
              </a:defRPr>
            </a:pPr>
            <a:r>
              <a:t>Vendor Performance Agentic AI  |  Modular Python solution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C64"/>
                </a:solidFill>
                <a:latin typeface="Aptos Display"/>
              </a:defRPr>
            </a:pPr>
            <a:r>
              <a:t>Deployment &amp; 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C"/>
                </a:solidFill>
                <a:latin typeface="Aptos"/>
              </a:defRPr>
            </a:pPr>
            <a:r>
              <a:t>Two application processes communicate over local REST APIs; ChromaDB is accessed directly from Python.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1078992" cy="50292"/>
          </a:xfrm>
          <a:prstGeom prst="rect">
            <a:avLst/>
          </a:prstGeom>
          <a:solidFill>
            <a:srgbClr val="0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224028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23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844D"/>
                </a:solidFill>
                <a:latin typeface="Aptos Display"/>
              </a:defRPr>
            </a:pPr>
            <a:r>
              <a:t>Frontend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2095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Streamlit app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Port 8501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Persona-specific navigation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Calls FastAPI with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224028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1B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67BE"/>
                </a:solidFill>
                <a:latin typeface="Aptos Display"/>
              </a:defRPr>
            </a:pPr>
            <a:r>
              <a:t>Backend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011680"/>
            <a:ext cx="32095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FastAPI / Uvicorn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Port 8000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Scoring, retrieval and recommendation modules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Swagger docs at /docs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520440" cy="224028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6C3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618488"/>
            <a:ext cx="32095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C30A8"/>
                </a:solidFill>
                <a:latin typeface="Aptos Display"/>
              </a:defRPr>
            </a:pPr>
            <a:r>
              <a:t>Local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11680"/>
            <a:ext cx="32095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Synthetic CSV files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ChromaDB persistent store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SQLite app_logs.db</a:t>
            </a:r>
          </a:p>
          <a:p>
            <a:pPr>
              <a:spcAft>
                <a:spcPts val="3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Optional OPENAI_API_KEY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Install from requirements.txt; start backend with uvicorn, then run Streamlit frontend.</a:t>
            </a:r>
          </a:p>
          <a:p>
            <a:pPr>
              <a:spcAft>
                <a:spcPts val="8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No separate MCP process, no LangChain runtime dependency.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5624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C"/>
                </a:solidFill>
                <a:latin typeface="Aptos"/>
              </a:defRPr>
            </a:pPr>
            <a:r>
              <a:t>Vendor Performance Agentic AI  |  Modular Python solution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C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Expected Business Value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3246120" cy="205740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0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847088"/>
            <a:ext cx="2935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789"/>
                </a:solidFill>
                <a:latin typeface="Aptos Display"/>
              </a:defRPr>
            </a:pPr>
            <a:r>
              <a:t>Prioritize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240280"/>
            <a:ext cx="29352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02D3E"/>
                </a:solidFill>
                <a:latin typeface="Aptos"/>
              </a:defRPr>
            </a:pPr>
            <a:r>
              <a:t>Focus attention on suppliers with the weakest score components and highest operational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737360"/>
            <a:ext cx="3246120" cy="205740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6C3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8" y="1847088"/>
            <a:ext cx="2935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C30A8"/>
                </a:solidFill>
                <a:latin typeface="Aptos Display"/>
              </a:defRPr>
            </a:pPr>
            <a:r>
              <a:t>Act earlier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008" y="2240280"/>
            <a:ext cx="29352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02D3E"/>
                </a:solidFill>
                <a:latin typeface="Aptos"/>
              </a:defRPr>
            </a:pPr>
            <a:r>
              <a:t>Use evidence-backed corrective actions before delivery or quality issues escalate.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246120" cy="2057400"/>
          </a:xfrm>
          <a:prstGeom prst="roundRect">
            <a:avLst/>
          </a:prstGeom>
          <a:solidFill>
            <a:srgbClr val="F2F7FC"/>
          </a:solidFill>
          <a:ln w="17145">
            <a:solidFill>
              <a:srgbClr val="1B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847088"/>
            <a:ext cx="2935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7BE"/>
                </a:solidFill>
                <a:latin typeface="Aptos Display"/>
              </a:defRPr>
            </a:pPr>
            <a:r>
              <a:t>Improve continuously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40280"/>
            <a:ext cx="29352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02D3E"/>
                </a:solidFill>
                <a:latin typeface="Aptos"/>
              </a:defRPr>
            </a:pPr>
            <a:r>
              <a:t>Track actions and outcomes; recalibrate weights and thresholds with business owners.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CEBF8"/>
                </a:solidFill>
                <a:latin typeface="Aptos"/>
              </a:defRPr>
            </a:pPr>
            <a:r>
              <a:t>Prototype guidance only: human review remains required for supplier escalation, sourcing and contract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5624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C"/>
                </a:solidFill>
                <a:latin typeface="Aptos"/>
              </a:defRPr>
            </a:pPr>
            <a:r>
              <a:t>Vendor Performance Agentic AI  |  Modular Python solution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